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37095-29BA-415D-8C22-D378B9FBE660}" v="1" dt="2026-09-10T12:04:12.24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ju ." userId="0596a70eed859b26" providerId="LiveId" clId="{6159A139-8349-4862-B873-54C05A91EA9D}"/>
    <pc:docChg chg="undo custSel modSld">
      <pc:chgData name="Manju ." userId="0596a70eed859b26" providerId="LiveId" clId="{6159A139-8349-4862-B873-54C05A91EA9D}" dt="2026-09-10T12:04:53.182" v="4" actId="207"/>
      <pc:docMkLst>
        <pc:docMk/>
      </pc:docMkLst>
      <pc:sldChg chg="modSp mod">
        <pc:chgData name="Manju ." userId="0596a70eed859b26" providerId="LiveId" clId="{6159A139-8349-4862-B873-54C05A91EA9D}" dt="2026-09-10T12:04:53.182" v="4" actId="207"/>
        <pc:sldMkLst>
          <pc:docMk/>
          <pc:sldMk cId="3863610428" sldId="342"/>
        </pc:sldMkLst>
        <pc:spChg chg="mod">
          <ac:chgData name="Manju ." userId="0596a70eed859b26" providerId="LiveId" clId="{6159A139-8349-4862-B873-54C05A91EA9D}" dt="2026-09-10T12:04:53.182" v="4" actId="207"/>
          <ac:spMkLst>
            <pc:docMk/>
            <pc:sldMk cId="3863610428" sldId="342"/>
            <ac:spMk id="3" creationId="{5F0B37E4-66B1-8633-7266-68B32174275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ivyaa2025/VOIS-AICTE-Seasonal-Agricultur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21161"/>
            <a:ext cx="5290994" cy="861497"/>
          </a:xfrm>
        </p:spPr>
        <p:txBody>
          <a:bodyPr vert="horz" lIns="91440" tIns="45720" rIns="91440" bIns="45720" rtlCol="0" anchor="t">
            <a:noAutofit/>
          </a:bodyPr>
          <a:lstStyle/>
          <a:p>
            <a:r>
              <a:rPr lang="en-US" dirty="0">
                <a:solidFill>
                  <a:schemeClr val="tx1"/>
                </a:solidFill>
              </a:rPr>
              <a:t>Divya </a:t>
            </a:r>
          </a:p>
          <a:p>
            <a:r>
              <a:rPr lang="en-US" dirty="0">
                <a:solidFill>
                  <a:schemeClr val="tx1"/>
                </a:solidFill>
              </a:rPr>
              <a:t>Keshav Mahavidyalaya (University of Delhi)</a:t>
            </a:r>
            <a:endParaRPr lang="en-IN" dirty="0">
              <a:solidFill>
                <a:schemeClr val="tx1"/>
              </a:solidFill>
            </a:endParaRPr>
          </a:p>
          <a:p>
            <a:pPr algn="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154996" cy="743448"/>
          </a:xfrm>
        </p:spPr>
        <p:txBody>
          <a:bodyPr>
            <a:normAutofit fontScale="90000"/>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48163"/>
            <a:ext cx="5290994" cy="369332"/>
          </a:xfrm>
          <a:prstGeom prst="rect">
            <a:avLst/>
          </a:prstGeom>
          <a:noFill/>
        </p:spPr>
        <p:txBody>
          <a:bodyPr wrap="square" rtlCol="0">
            <a:spAutoFit/>
          </a:bodyPr>
          <a:lstStyle/>
          <a:p>
            <a:r>
              <a:rPr lang="en-US" b="1" dirty="0"/>
              <a:t>AICTE STU ID : STU688d008a2b2b71754071178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 Placeholder Desc"/>
          <p:cNvSpPr>
            <a:spLocks noGrp="1"/>
          </p:cNvSpPr>
          <p:nvPr>
            <p:ph type="body" sz="quarter" idx="12"/>
          </p:nvPr>
        </p:nvSpPr>
        <p:spPr>
          <a:xfrm>
            <a:off x="601589" y="2141191"/>
            <a:ext cx="7416801" cy="4300000"/>
          </a:xfrm>
        </p:spPr>
        <p:txBody>
          <a:bodyPr>
            <a:normAutofit lnSpcReduction="10000"/>
          </a:bodyPr>
          <a:lstStyle/>
          <a:p>
            <a:pPr algn="just">
              <a:lnSpc>
                <a:spcPct val="130000"/>
              </a:lnSpc>
            </a:pPr>
            <a:r>
              <a:rPr lang="en-IN" sz="2000" dirty="0"/>
              <a:t>This project analyzes agricultural performance data across three Indian cropping seasons – Kharif, Rabi and Zaid – covering 4,000 farm records across 8 states. The dataset spans environmental conditions, resource usage (water, fertilizer, irrigation) and economic outcomes (cost, revenue, profit). After cleaning the data, seasonal patterns in yield, resource efficiency, disease/pest risk and profitability were explored using Python (Pandas, Matplotlib, Seaborn) in a Jupyter Notebook, to derive evidence-based insights and recommendations for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a:bodyPr>
          <a:lstStyle/>
          <a:p>
            <a:pPr algn="l">
              <a:lnSpc>
                <a:spcPct val="150000"/>
              </a:lnSpc>
            </a:pPr>
            <a:r>
              <a:rPr lang="en-IN" sz="2400" dirty="0"/>
              <a:t>Farmers and agricultural planners deciding what and when to sow</a:t>
            </a:r>
          </a:p>
          <a:p>
            <a:pPr algn="l">
              <a:lnSpc>
                <a:spcPct val="150000"/>
              </a:lnSpc>
            </a:pPr>
            <a:r>
              <a:rPr lang="en-IN" sz="2400" dirty="0"/>
              <a:t>Agricultural policy makers and government departments</a:t>
            </a:r>
          </a:p>
          <a:p>
            <a:pPr algn="l">
              <a:lnSpc>
                <a:spcPct val="150000"/>
              </a:lnSpc>
            </a:pPr>
            <a:r>
              <a:rPr lang="en-IN" sz="2400" dirty="0"/>
              <a:t>Agri-business and supply chain stakeholders</a:t>
            </a:r>
          </a:p>
          <a:p>
            <a:pPr algn="l">
              <a:lnSpc>
                <a:spcPct val="150000"/>
              </a:lnSpc>
            </a:pPr>
            <a:r>
              <a:rPr lang="en-IN" sz="2400" dirty="0"/>
              <a:t>Researchers and data analysts studying seasonal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algn="l">
              <a:lnSpc>
                <a:spcPct val="150000"/>
              </a:lnSpc>
            </a:pPr>
            <a:r>
              <a:rPr lang="en-IN" sz="2400" dirty="0"/>
              <a:t>Python – core programming language for analysis</a:t>
            </a:r>
          </a:p>
          <a:p>
            <a:pPr algn="l">
              <a:lnSpc>
                <a:spcPct val="150000"/>
              </a:lnSpc>
            </a:pPr>
            <a:r>
              <a:rPr lang="en-IN" sz="2400" dirty="0"/>
              <a:t>Pandas &amp; NumPy – data cleaning and manipulation</a:t>
            </a:r>
          </a:p>
          <a:p>
            <a:pPr algn="l">
              <a:lnSpc>
                <a:spcPct val="150000"/>
              </a:lnSpc>
            </a:pPr>
            <a:r>
              <a:rPr lang="en-IN" sz="2400" dirty="0"/>
              <a:t>Matplotlib &amp; Seaborn – data visualization</a:t>
            </a:r>
          </a:p>
          <a:p>
            <a:pPr algn="l">
              <a:lnSpc>
                <a:spcPct val="150000"/>
              </a:lnSpc>
            </a:pPr>
            <a:r>
              <a:rPr lang="en-IN" sz="2400" dirty="0"/>
              <a:t>Jupyter Notebook – documentation and code execution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90"/>
            <a:ext cx="9108123" cy="900000"/>
          </a:xfrm>
        </p:spPr>
        <p:txBody>
          <a:bodyPr>
            <a:normAutofit fontScale="90000"/>
          </a:bodyPr>
          <a:lstStyle/>
          <a:p>
            <a:r>
              <a:rPr lang="en-GB" dirty="0"/>
              <a:t>RESULTS – </a:t>
            </a:r>
            <a:r>
              <a:rPr lang="en-GB" dirty="0">
                <a:solidFill>
                  <a:schemeClr val="accent2">
                    <a:lumMod val="50000"/>
                  </a:schemeClr>
                </a:solidFill>
              </a:rPr>
              <a:t>Crop Yield by Season</a:t>
            </a:r>
            <a:endParaRPr lang="en-IN" dirty="0">
              <a:solidFill>
                <a:schemeClr val="accent2">
                  <a:lumMod val="50000"/>
                </a:schemeClr>
              </a:solidFill>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006" name="Chart Image 6"/>
          <p:cNvPicPr>
            <a:picLocks noChangeAspect="1"/>
          </p:cNvPicPr>
          <p:nvPr/>
        </p:nvPicPr>
        <p:blipFill>
          <a:blip r:embed="rId3"/>
          <a:stretch>
            <a:fillRect/>
          </a:stretch>
        </p:blipFill>
        <p:spPr>
          <a:xfrm>
            <a:off x="675956" y="2156400"/>
            <a:ext cx="7563803" cy="3950000"/>
          </a:xfrm>
          <a:prstGeom prst="rect">
            <a:avLst/>
          </a:prstGeom>
        </p:spPr>
      </p:pic>
      <p:sp>
        <p:nvSpPr>
          <p:cNvPr id="806" name="Insight Caption 6"/>
          <p:cNvSpPr txBox="1"/>
          <p:nvPr/>
        </p:nvSpPr>
        <p:spPr>
          <a:xfrm>
            <a:off x="660399" y="1300000"/>
            <a:ext cx="8209281" cy="445219"/>
          </a:xfrm>
          <a:prstGeom prst="rect">
            <a:avLst/>
          </a:prstGeom>
        </p:spPr>
        <p:txBody>
          <a:bodyPr wrap="square">
            <a:noAutofit/>
          </a:bodyPr>
          <a:lstStyle/>
          <a:p>
            <a:pPr marL="285750" indent="-285750" algn="l">
              <a:lnSpc>
                <a:spcPct val="115000"/>
              </a:lnSpc>
              <a:buFont typeface="Wingdings" panose="05000000000000000000" pitchFamily="2" charset="2"/>
              <a:buChar char="§"/>
            </a:pPr>
            <a:r>
              <a:rPr lang="en-IN" sz="2000" dirty="0"/>
              <a:t>Kharif yields 5.63 t/ha on average, the highest of the three seasons.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90"/>
            <a:ext cx="9931083" cy="900000"/>
          </a:xfrm>
        </p:spPr>
        <p:txBody>
          <a:bodyPr>
            <a:normAutofit fontScale="90000"/>
          </a:bodyPr>
          <a:lstStyle/>
          <a:p>
            <a:r>
              <a:rPr lang="en-GB" dirty="0"/>
              <a:t>RESULTS – </a:t>
            </a:r>
            <a:r>
              <a:rPr lang="en-GB" dirty="0">
                <a:solidFill>
                  <a:schemeClr val="accent2">
                    <a:lumMod val="50000"/>
                  </a:schemeClr>
                </a:solidFill>
              </a:rPr>
              <a:t>Environmental Conditions</a:t>
            </a:r>
            <a:endParaRPr lang="en-IN" dirty="0">
              <a:solidFill>
                <a:schemeClr val="accent2">
                  <a:lumMod val="50000"/>
                </a:schemeClr>
              </a:solidFill>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60399" y="1300000"/>
            <a:ext cx="10800000" cy="900000"/>
          </a:xfrm>
        </p:spPr>
        <p:txBody>
          <a:bodyPr>
            <a:normAutofit/>
          </a:bodyPr>
          <a:lstStyle/>
          <a:p>
            <a:pPr algn="l">
              <a:lnSpc>
                <a:spcPct val="115000"/>
              </a:lnSpc>
            </a:pPr>
            <a:r>
              <a:rPr lang="en-IN" dirty="0"/>
              <a:t>Kharif is the wettest and most humid season</a:t>
            </a:r>
          </a:p>
          <a:p>
            <a:pPr algn="l">
              <a:lnSpc>
                <a:spcPct val="115000"/>
              </a:lnSpc>
            </a:pPr>
            <a:r>
              <a:rPr lang="en-IN" dirty="0"/>
              <a:t> Zaid is the hottest and sunniest.</a:t>
            </a:r>
          </a:p>
        </p:txBody>
      </p:sp>
      <p:pic>
        <p:nvPicPr>
          <p:cNvPr id="9007" name="Chart Image 7"/>
          <p:cNvPicPr>
            <a:picLocks noChangeAspect="1"/>
          </p:cNvPicPr>
          <p:nvPr/>
        </p:nvPicPr>
        <p:blipFill>
          <a:blip r:embed="rId3"/>
          <a:stretch>
            <a:fillRect/>
          </a:stretch>
        </p:blipFill>
        <p:spPr>
          <a:xfrm>
            <a:off x="675957" y="2263369"/>
            <a:ext cx="7909243" cy="395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90"/>
            <a:ext cx="10113963" cy="900000"/>
          </a:xfrm>
        </p:spPr>
        <p:txBody>
          <a:bodyPr>
            <a:normAutofit/>
          </a:bodyPr>
          <a:lstStyle/>
          <a:p>
            <a:r>
              <a:rPr lang="en-GB" dirty="0"/>
              <a:t>RESULTS – </a:t>
            </a:r>
            <a:r>
              <a:rPr lang="en-GB" dirty="0">
                <a:solidFill>
                  <a:schemeClr val="accent2">
                    <a:lumMod val="50000"/>
                  </a:schemeClr>
                </a:solidFill>
              </a:rPr>
              <a:t>Economic Performance</a:t>
            </a:r>
            <a:endParaRPr lang="en-IN" dirty="0">
              <a:solidFill>
                <a:schemeClr val="accent2">
                  <a:lumMod val="50000"/>
                </a:schemeClr>
              </a:solidFill>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60399" y="1300000"/>
            <a:ext cx="9164321" cy="379141"/>
          </a:xfrm>
        </p:spPr>
        <p:txBody>
          <a:bodyPr>
            <a:normAutofit fontScale="92500" lnSpcReduction="10000"/>
          </a:bodyPr>
          <a:lstStyle/>
          <a:p>
            <a:pPr algn="l">
              <a:lnSpc>
                <a:spcPct val="115000"/>
              </a:lnSpc>
            </a:pPr>
            <a:r>
              <a:rPr lang="en-IN" dirty="0"/>
              <a:t>Kharif delivers the highest revenue and profit; Zaid runs an average loss.</a:t>
            </a:r>
          </a:p>
        </p:txBody>
      </p:sp>
      <p:pic>
        <p:nvPicPr>
          <p:cNvPr id="9008" name="Chart Image 8"/>
          <p:cNvPicPr>
            <a:picLocks noChangeAspect="1"/>
          </p:cNvPicPr>
          <p:nvPr/>
        </p:nvPicPr>
        <p:blipFill>
          <a:blip r:embed="rId3"/>
          <a:stretch>
            <a:fillRect/>
          </a:stretch>
        </p:blipFill>
        <p:spPr>
          <a:xfrm>
            <a:off x="763594" y="1941448"/>
            <a:ext cx="7425365" cy="413423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0256203" cy="830997"/>
          </a:xfrm>
        </p:spPr>
        <p:txBody>
          <a:bodyPr>
            <a:normAutofit/>
          </a:bodyPr>
          <a:lstStyle/>
          <a:p>
            <a:r>
              <a:rPr lang="en-GB" dirty="0"/>
              <a:t>RESULTS – </a:t>
            </a:r>
            <a:r>
              <a:rPr lang="en-GB" dirty="0">
                <a:solidFill>
                  <a:schemeClr val="accent2">
                    <a:lumMod val="50000"/>
                  </a:schemeClr>
                </a:solidFill>
              </a:rPr>
              <a:t>Correlation Analysis</a:t>
            </a:r>
            <a:endParaRPr lang="en-IN" dirty="0">
              <a:solidFill>
                <a:schemeClr val="accent2">
                  <a:lumMod val="50000"/>
                </a:schemeClr>
              </a:solidFill>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60399" y="1300000"/>
            <a:ext cx="10800000" cy="900000"/>
          </a:xfrm>
        </p:spPr>
        <p:txBody>
          <a:bodyPr>
            <a:normAutofit/>
          </a:bodyPr>
          <a:lstStyle/>
          <a:p>
            <a:pPr algn="l">
              <a:lnSpc>
                <a:spcPct val="115000"/>
              </a:lnSpc>
            </a:pPr>
            <a:r>
              <a:rPr lang="en-IN" dirty="0"/>
              <a:t>Yield tracks water use (0.39) and drives profit (0.49); rainfall's strongest link is disease/pest risk (0.63).</a:t>
            </a:r>
          </a:p>
        </p:txBody>
      </p:sp>
      <p:pic>
        <p:nvPicPr>
          <p:cNvPr id="9009" name="Chart Image 9"/>
          <p:cNvPicPr>
            <a:picLocks noChangeAspect="1"/>
          </p:cNvPicPr>
          <p:nvPr/>
        </p:nvPicPr>
        <p:blipFill>
          <a:blip r:embed="rId3"/>
          <a:stretch>
            <a:fillRect/>
          </a:stretch>
        </p:blipFill>
        <p:spPr>
          <a:xfrm>
            <a:off x="725487" y="2360960"/>
            <a:ext cx="7372033" cy="395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975043" cy="830997"/>
          </a:xfrm>
        </p:spPr>
        <p:txBody>
          <a:bodyPr>
            <a:normAutofit fontScale="90000"/>
          </a:bodyPr>
          <a:lstStyle/>
          <a:p>
            <a:r>
              <a:rPr lang="en-GB" dirty="0"/>
              <a:t>RESULTS – </a:t>
            </a:r>
            <a:r>
              <a:rPr lang="en-GB" dirty="0">
                <a:solidFill>
                  <a:schemeClr val="accent2">
                    <a:lumMod val="50000"/>
                  </a:schemeClr>
                </a:solidFill>
              </a:rPr>
              <a:t>Irrigation Effectiveness</a:t>
            </a:r>
            <a:endParaRPr lang="en-IN" dirty="0">
              <a:solidFill>
                <a:schemeClr val="accent2">
                  <a:lumMod val="50000"/>
                </a:schemeClr>
              </a:solidFill>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60399" y="1300000"/>
            <a:ext cx="10800000" cy="900000"/>
          </a:xfrm>
        </p:spPr>
        <p:txBody>
          <a:bodyPr>
            <a:normAutofit/>
          </a:bodyPr>
          <a:lstStyle/>
          <a:p>
            <a:pPr algn="l">
              <a:lnSpc>
                <a:spcPct val="115000"/>
              </a:lnSpc>
            </a:pPr>
            <a:r>
              <a:rPr lang="en-IN" dirty="0"/>
              <a:t>Drip leads in Kharif and Rabi, but Sprinkler edges it out in Zaid (6.17 vs 5.85 t/ha).</a:t>
            </a:r>
          </a:p>
        </p:txBody>
      </p:sp>
      <p:pic>
        <p:nvPicPr>
          <p:cNvPr id="90010" name="Chart Image 10"/>
          <p:cNvPicPr>
            <a:picLocks noChangeAspect="1"/>
          </p:cNvPicPr>
          <p:nvPr/>
        </p:nvPicPr>
        <p:blipFill>
          <a:blip r:embed="rId3"/>
          <a:stretch>
            <a:fillRect/>
          </a:stretch>
        </p:blipFill>
        <p:spPr>
          <a:xfrm>
            <a:off x="731600" y="1941449"/>
            <a:ext cx="7904399" cy="39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 Placeholder Future"/>
          <p:cNvSpPr>
            <a:spLocks noGrp="1"/>
          </p:cNvSpPr>
          <p:nvPr>
            <p:ph type="body" sz="quarter" idx="12"/>
          </p:nvPr>
        </p:nvSpPr>
        <p:spPr>
          <a:xfrm>
            <a:off x="660399" y="1750000"/>
            <a:ext cx="10800000" cy="4300000"/>
          </a:xfrm>
        </p:spPr>
        <p:txBody>
          <a:bodyPr>
            <a:normAutofit/>
          </a:bodyPr>
          <a:lstStyle/>
          <a:p>
            <a:pPr algn="l">
              <a:lnSpc>
                <a:spcPct val="150000"/>
              </a:lnSpc>
            </a:pPr>
            <a:r>
              <a:rPr lang="en-IN" sz="2400" dirty="0"/>
              <a:t>Incorporate real-time weather and market-price data for live analysis</a:t>
            </a:r>
          </a:p>
          <a:p>
            <a:pPr algn="l">
              <a:lnSpc>
                <a:spcPct val="150000"/>
              </a:lnSpc>
            </a:pPr>
            <a:r>
              <a:rPr lang="en-IN" sz="2400" dirty="0"/>
              <a:t>Apply predictive modeling to forecast yield for upcoming seasons</a:t>
            </a:r>
          </a:p>
          <a:p>
            <a:pPr algn="l">
              <a:lnSpc>
                <a:spcPct val="150000"/>
              </a:lnSpc>
            </a:pPr>
            <a:r>
              <a:rPr lang="en-IN" sz="2400" dirty="0"/>
              <a:t>Build an interactive dashboard for farmers and policy makers</a:t>
            </a:r>
          </a:p>
          <a:p>
            <a:pPr algn="l">
              <a:lnSpc>
                <a:spcPct val="150000"/>
              </a:lnSpc>
            </a:pPr>
            <a:r>
              <a:rPr lang="en-IN" sz="2400" dirty="0"/>
              <a:t>Extend the study to more states and crops for broader generalization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fontScale="90000"/>
          </a:bodyPr>
          <a:lstStyle/>
          <a:p>
            <a:br>
              <a:rPr lang="en-IN" sz="4000" dirty="0"/>
            </a:br>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15214" y="142270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162569"/>
            <a:ext cx="8455384" cy="369332"/>
          </a:xfrm>
          <a:prstGeom prst="rect">
            <a:avLst/>
          </a:prstGeom>
          <a:noFill/>
        </p:spPr>
        <p:txBody>
          <a:bodyPr wrap="square">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https://github.com/divyaa2025/VOIS-AICTE-Seasonal-Agriculture-Analysis</a:t>
            </a:r>
            <a:endParaRPr lang="en-US" dirty="0">
              <a:solidFill>
                <a:srgbClr val="0070C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3B9161F-EF13-FDA9-0609-F7D16773E3FD}"/>
              </a:ext>
            </a:extLst>
          </p:cNvPr>
          <p:cNvPicPr>
            <a:picLocks noChangeAspect="1"/>
          </p:cNvPicPr>
          <p:nvPr/>
        </p:nvPicPr>
        <p:blipFill>
          <a:blip r:embed="rId3"/>
          <a:srcRect l="1820"/>
          <a:stretch>
            <a:fillRect/>
          </a:stretch>
        </p:blipFill>
        <p:spPr>
          <a:xfrm>
            <a:off x="675957" y="1583633"/>
            <a:ext cx="8351388" cy="488828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389268" y="2052319"/>
            <a:ext cx="3928480" cy="2082460"/>
          </a:xfrm>
          <a:prstGeom prst="rect">
            <a:avLst/>
          </a:prstGeom>
        </p:spPr>
        <p:txBody>
          <a:bodyPr anchor="ctr">
            <a:normAutofit/>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1392</TotalTime>
  <Words>454</Words>
  <Application>Microsoft Office PowerPoint</Application>
  <PresentationFormat>Widescreen</PresentationFormat>
  <Paragraphs>40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 Crop Yield by Season</vt:lpstr>
      <vt:lpstr>RESULTS – Environmental Conditions</vt:lpstr>
      <vt:lpstr>RESULTS – Economic Performance</vt:lpstr>
      <vt:lpstr>RESULTS – Correlation Analysis</vt:lpstr>
      <vt:lpstr>RESULTS – Irrigation Effectiveness</vt:lpstr>
      <vt:lpstr>Future scope</vt:lpstr>
      <vt:lpstr> 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Manju .</cp:lastModifiedBy>
  <cp:revision>99</cp:revision>
  <dcterms:created xsi:type="dcterms:W3CDTF">2021-07-11T13:13:15Z</dcterms:created>
  <dcterms:modified xsi:type="dcterms:W3CDTF">2026-09-10T12:04:57Z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